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8" r:id="rId13"/>
    <p:sldId id="277" r:id="rId14"/>
    <p:sldId id="279" r:id="rId15"/>
    <p:sldId id="280" r:id="rId16"/>
    <p:sldId id="281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41" autoAdjust="0"/>
  </p:normalViewPr>
  <p:slideViewPr>
    <p:cSldViewPr snapToGrid="0">
      <p:cViewPr varScale="1">
        <p:scale>
          <a:sx n="111" d="100"/>
          <a:sy n="111" d="100"/>
        </p:scale>
        <p:origin x="2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D2766C-A082-44DD-AAA3-D9616D0F852F}" type="doc">
      <dgm:prSet loTypeId="urn:microsoft.com/office/officeart/2005/8/layout/bProcess4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7CACA0F-AD8D-4F37-B580-F4886934B0E3}">
      <dgm:prSet phldrT="[Text]"/>
      <dgm:spPr/>
      <dgm:t>
        <a:bodyPr/>
        <a:lstStyle/>
        <a:p>
          <a:r>
            <a:rPr lang="en-US"/>
            <a:t>User </a:t>
          </a:r>
        </a:p>
      </dgm:t>
    </dgm:pt>
    <dgm:pt modelId="{DA761B96-F1BB-4B19-BE68-F84E9DDDE045}" type="parTrans" cxnId="{7579B272-E0C4-498B-AD5F-47346231EFCB}">
      <dgm:prSet/>
      <dgm:spPr/>
      <dgm:t>
        <a:bodyPr/>
        <a:lstStyle/>
        <a:p>
          <a:endParaRPr lang="en-US"/>
        </a:p>
      </dgm:t>
    </dgm:pt>
    <dgm:pt modelId="{93061D98-D984-4204-AB62-A8ED6E6C85D1}" type="sibTrans" cxnId="{7579B272-E0C4-498B-AD5F-47346231EFCB}">
      <dgm:prSet/>
      <dgm:spPr/>
      <dgm:t>
        <a:bodyPr/>
        <a:lstStyle/>
        <a:p>
          <a:endParaRPr lang="en-US"/>
        </a:p>
      </dgm:t>
    </dgm:pt>
    <dgm:pt modelId="{883321A7-6733-4091-8F89-9A1673635C7E}">
      <dgm:prSet phldrT="[Text]"/>
      <dgm:spPr/>
      <dgm:t>
        <a:bodyPr/>
        <a:lstStyle/>
        <a:p>
          <a:r>
            <a:rPr lang="en-US"/>
            <a:t>Data Ingestion (Etherscan API)</a:t>
          </a:r>
        </a:p>
      </dgm:t>
    </dgm:pt>
    <dgm:pt modelId="{7284789C-B482-42CA-8CBB-0F0C3B332C78}" type="parTrans" cxnId="{58202600-D7FB-4137-A40B-01D952C26C67}">
      <dgm:prSet/>
      <dgm:spPr/>
      <dgm:t>
        <a:bodyPr/>
        <a:lstStyle/>
        <a:p>
          <a:endParaRPr lang="en-US"/>
        </a:p>
      </dgm:t>
    </dgm:pt>
    <dgm:pt modelId="{BF171DA0-9F84-4183-92D9-23E08868CDA4}" type="sibTrans" cxnId="{58202600-D7FB-4137-A40B-01D952C26C67}">
      <dgm:prSet/>
      <dgm:spPr/>
      <dgm:t>
        <a:bodyPr/>
        <a:lstStyle/>
        <a:p>
          <a:endParaRPr lang="en-US"/>
        </a:p>
      </dgm:t>
    </dgm:pt>
    <dgm:pt modelId="{767BDD54-7484-4BF7-A250-883D9ADA42AB}">
      <dgm:prSet phldrT="[Text]"/>
      <dgm:spPr/>
      <dgm:t>
        <a:bodyPr/>
        <a:lstStyle/>
        <a:p>
          <a:r>
            <a:rPr lang="en-US"/>
            <a:t>Feature Engineering</a:t>
          </a:r>
        </a:p>
      </dgm:t>
    </dgm:pt>
    <dgm:pt modelId="{152DA76E-1411-4B59-8560-EC826664130B}" type="parTrans" cxnId="{498157E1-AD81-4855-8724-86FD361E837D}">
      <dgm:prSet/>
      <dgm:spPr/>
      <dgm:t>
        <a:bodyPr/>
        <a:lstStyle/>
        <a:p>
          <a:endParaRPr lang="en-US"/>
        </a:p>
      </dgm:t>
    </dgm:pt>
    <dgm:pt modelId="{2CAD0B32-2B12-4805-9ED1-4489C3B2E3BD}" type="sibTrans" cxnId="{498157E1-AD81-4855-8724-86FD361E837D}">
      <dgm:prSet/>
      <dgm:spPr/>
      <dgm:t>
        <a:bodyPr/>
        <a:lstStyle/>
        <a:p>
          <a:endParaRPr lang="en-US"/>
        </a:p>
      </dgm:t>
    </dgm:pt>
    <dgm:pt modelId="{7D8F67D2-584E-4F71-8119-52FD65714F6F}">
      <dgm:prSet phldrT="[Text]"/>
      <dgm:spPr/>
      <dgm:t>
        <a:bodyPr/>
        <a:lstStyle/>
        <a:p>
          <a:r>
            <a:rPr lang="en-US"/>
            <a:t>ML Model</a:t>
          </a:r>
        </a:p>
      </dgm:t>
    </dgm:pt>
    <dgm:pt modelId="{A8FD198E-3FA8-480D-9034-5231828C688E}" type="parTrans" cxnId="{44A4444D-4DE9-4141-8FDD-0A1F5706E3F1}">
      <dgm:prSet/>
      <dgm:spPr/>
      <dgm:t>
        <a:bodyPr/>
        <a:lstStyle/>
        <a:p>
          <a:endParaRPr lang="en-US"/>
        </a:p>
      </dgm:t>
    </dgm:pt>
    <dgm:pt modelId="{171C3437-2D97-490C-9ECA-79CBA40C6B91}" type="sibTrans" cxnId="{44A4444D-4DE9-4141-8FDD-0A1F5706E3F1}">
      <dgm:prSet/>
      <dgm:spPr/>
      <dgm:t>
        <a:bodyPr/>
        <a:lstStyle/>
        <a:p>
          <a:endParaRPr lang="en-US"/>
        </a:p>
      </dgm:t>
    </dgm:pt>
    <dgm:pt modelId="{46243035-F72B-44DA-802A-DF1408E78CAF}">
      <dgm:prSet phldrT="[Text]"/>
      <dgm:spPr/>
      <dgm:t>
        <a:bodyPr/>
        <a:lstStyle/>
        <a:p>
          <a:r>
            <a:rPr lang="en-US"/>
            <a:t>Risk Score</a:t>
          </a:r>
        </a:p>
      </dgm:t>
    </dgm:pt>
    <dgm:pt modelId="{44E9311C-B5D2-4AD5-BD81-FA8CC49F4BE6}" type="parTrans" cxnId="{82ECA109-44C5-45A4-84D4-A7F1EADAE130}">
      <dgm:prSet/>
      <dgm:spPr/>
      <dgm:t>
        <a:bodyPr/>
        <a:lstStyle/>
        <a:p>
          <a:endParaRPr lang="en-US"/>
        </a:p>
      </dgm:t>
    </dgm:pt>
    <dgm:pt modelId="{4D8EE1A5-EDEF-42E4-A820-0F8C475FE25F}" type="sibTrans" cxnId="{82ECA109-44C5-45A4-84D4-A7F1EADAE130}">
      <dgm:prSet/>
      <dgm:spPr/>
      <dgm:t>
        <a:bodyPr/>
        <a:lstStyle/>
        <a:p>
          <a:endParaRPr lang="en-US"/>
        </a:p>
      </dgm:t>
    </dgm:pt>
    <dgm:pt modelId="{72E035AD-324E-431C-893A-5FE65F548789}">
      <dgm:prSet phldrT="[Text]"/>
      <dgm:spPr/>
      <dgm:t>
        <a:bodyPr/>
        <a:lstStyle/>
        <a:p>
          <a:r>
            <a:rPr lang="en-US"/>
            <a:t>CSV Export</a:t>
          </a:r>
        </a:p>
      </dgm:t>
    </dgm:pt>
    <dgm:pt modelId="{F062FBA9-CD62-4C41-9D64-2ABA4C7E81E6}" type="parTrans" cxnId="{F39CBCAC-E700-4F50-9889-7067E8E1BCAF}">
      <dgm:prSet/>
      <dgm:spPr/>
      <dgm:t>
        <a:bodyPr/>
        <a:lstStyle/>
        <a:p>
          <a:endParaRPr lang="en-US"/>
        </a:p>
      </dgm:t>
    </dgm:pt>
    <dgm:pt modelId="{FD6DB8F2-7012-4F9A-AFFC-97C0E5E6FBE8}" type="sibTrans" cxnId="{F39CBCAC-E700-4F50-9889-7067E8E1BCAF}">
      <dgm:prSet/>
      <dgm:spPr/>
      <dgm:t>
        <a:bodyPr/>
        <a:lstStyle/>
        <a:p>
          <a:endParaRPr lang="en-US"/>
        </a:p>
      </dgm:t>
    </dgm:pt>
    <dgm:pt modelId="{7093C210-A80E-40C5-A95B-8B5D696C959B}">
      <dgm:prSet phldrT="[Text]"/>
      <dgm:spPr/>
      <dgm:t>
        <a:bodyPr/>
        <a:lstStyle/>
        <a:p>
          <a:r>
            <a:rPr lang="en-US"/>
            <a:t>Power BI</a:t>
          </a:r>
        </a:p>
      </dgm:t>
    </dgm:pt>
    <dgm:pt modelId="{11BEBF28-578B-4E56-9431-6192CDDADEC3}" type="parTrans" cxnId="{87429229-E5C4-4A0D-A6B2-C59021A583CF}">
      <dgm:prSet/>
      <dgm:spPr/>
      <dgm:t>
        <a:bodyPr/>
        <a:lstStyle/>
        <a:p>
          <a:endParaRPr lang="en-US"/>
        </a:p>
      </dgm:t>
    </dgm:pt>
    <dgm:pt modelId="{CC9514FA-AF01-4E14-BEA2-0450726331A5}" type="sibTrans" cxnId="{87429229-E5C4-4A0D-A6B2-C59021A583CF}">
      <dgm:prSet/>
      <dgm:spPr/>
      <dgm:t>
        <a:bodyPr/>
        <a:lstStyle/>
        <a:p>
          <a:endParaRPr lang="en-US"/>
        </a:p>
      </dgm:t>
    </dgm:pt>
    <dgm:pt modelId="{5D6E4731-DD19-4C23-87AD-411601B4CAB5}">
      <dgm:prSet phldrT="[Text]"/>
      <dgm:spPr/>
      <dgm:t>
        <a:bodyPr/>
        <a:lstStyle/>
        <a:p>
          <a:r>
            <a:rPr lang="en-US"/>
            <a:t>Streamlit UI</a:t>
          </a:r>
        </a:p>
      </dgm:t>
    </dgm:pt>
    <dgm:pt modelId="{92141E86-844A-492C-B47D-C030CA545802}" type="sibTrans" cxnId="{C56C1A91-BE00-41A9-B48F-10BBAB1126DF}">
      <dgm:prSet/>
      <dgm:spPr/>
      <dgm:t>
        <a:bodyPr/>
        <a:lstStyle/>
        <a:p>
          <a:endParaRPr lang="en-US"/>
        </a:p>
      </dgm:t>
    </dgm:pt>
    <dgm:pt modelId="{E6765AC9-9A54-41F0-B33F-1FC3E0BF041A}" type="parTrans" cxnId="{C56C1A91-BE00-41A9-B48F-10BBAB1126DF}">
      <dgm:prSet/>
      <dgm:spPr/>
      <dgm:t>
        <a:bodyPr/>
        <a:lstStyle/>
        <a:p>
          <a:endParaRPr lang="en-US"/>
        </a:p>
      </dgm:t>
    </dgm:pt>
    <dgm:pt modelId="{1C8487CC-3E32-4705-BB29-5B9BE2FA7A97}">
      <dgm:prSet phldrT="[Text]"/>
      <dgm:spPr/>
      <dgm:t>
        <a:bodyPr/>
        <a:lstStyle/>
        <a:p>
          <a:r>
            <a:rPr lang="en-US"/>
            <a:t>Charts + Tables</a:t>
          </a:r>
        </a:p>
      </dgm:t>
    </dgm:pt>
    <dgm:pt modelId="{1CE9A74A-A125-4704-8351-BAC5556CEB93}" type="parTrans" cxnId="{6CE08AFF-A60C-4ED5-AF9B-75ED20F8B2EF}">
      <dgm:prSet/>
      <dgm:spPr/>
      <dgm:t>
        <a:bodyPr/>
        <a:lstStyle/>
        <a:p>
          <a:endParaRPr lang="en-US"/>
        </a:p>
      </dgm:t>
    </dgm:pt>
    <dgm:pt modelId="{5E2C870C-CD8B-4223-B0F1-7C47B4AB77BF}" type="sibTrans" cxnId="{6CE08AFF-A60C-4ED5-AF9B-75ED20F8B2EF}">
      <dgm:prSet/>
      <dgm:spPr/>
      <dgm:t>
        <a:bodyPr/>
        <a:lstStyle/>
        <a:p>
          <a:endParaRPr lang="en-US"/>
        </a:p>
      </dgm:t>
    </dgm:pt>
    <dgm:pt modelId="{1D672A42-8BCC-420B-B4E3-D0216C2C6A1C}" type="pres">
      <dgm:prSet presAssocID="{4ED2766C-A082-44DD-AAA3-D9616D0F852F}" presName="Name0" presStyleCnt="0">
        <dgm:presLayoutVars>
          <dgm:dir/>
          <dgm:resizeHandles/>
        </dgm:presLayoutVars>
      </dgm:prSet>
      <dgm:spPr/>
    </dgm:pt>
    <dgm:pt modelId="{A0C5699E-9CC8-4818-AA30-53748B86562D}" type="pres">
      <dgm:prSet presAssocID="{37CACA0F-AD8D-4F37-B580-F4886934B0E3}" presName="compNode" presStyleCnt="0"/>
      <dgm:spPr/>
    </dgm:pt>
    <dgm:pt modelId="{8FB4AF9D-E432-4D6B-A099-B413F15953A4}" type="pres">
      <dgm:prSet presAssocID="{37CACA0F-AD8D-4F37-B580-F4886934B0E3}" presName="dummyConnPt" presStyleCnt="0"/>
      <dgm:spPr/>
    </dgm:pt>
    <dgm:pt modelId="{BF9B19C7-BF9C-49A3-851C-EB506AE83EB0}" type="pres">
      <dgm:prSet presAssocID="{37CACA0F-AD8D-4F37-B580-F4886934B0E3}" presName="node" presStyleLbl="node1" presStyleIdx="0" presStyleCnt="9">
        <dgm:presLayoutVars>
          <dgm:bulletEnabled val="1"/>
        </dgm:presLayoutVars>
      </dgm:prSet>
      <dgm:spPr/>
    </dgm:pt>
    <dgm:pt modelId="{8722D086-17D7-4AC5-8862-AA5F52DCC7BC}" type="pres">
      <dgm:prSet presAssocID="{93061D98-D984-4204-AB62-A8ED6E6C85D1}" presName="sibTrans" presStyleLbl="bgSibTrans2D1" presStyleIdx="0" presStyleCnt="8"/>
      <dgm:spPr/>
    </dgm:pt>
    <dgm:pt modelId="{78A1685A-C1C8-4353-AF35-FC7BE215905D}" type="pres">
      <dgm:prSet presAssocID="{5D6E4731-DD19-4C23-87AD-411601B4CAB5}" presName="compNode" presStyleCnt="0"/>
      <dgm:spPr/>
    </dgm:pt>
    <dgm:pt modelId="{B6956428-00A7-4638-B205-4814B3CB1FD8}" type="pres">
      <dgm:prSet presAssocID="{5D6E4731-DD19-4C23-87AD-411601B4CAB5}" presName="dummyConnPt" presStyleCnt="0"/>
      <dgm:spPr/>
    </dgm:pt>
    <dgm:pt modelId="{CD43FEDB-0A47-46F6-B0BA-61D3042F5620}" type="pres">
      <dgm:prSet presAssocID="{5D6E4731-DD19-4C23-87AD-411601B4CAB5}" presName="node" presStyleLbl="node1" presStyleIdx="1" presStyleCnt="9">
        <dgm:presLayoutVars>
          <dgm:bulletEnabled val="1"/>
        </dgm:presLayoutVars>
      </dgm:prSet>
      <dgm:spPr/>
    </dgm:pt>
    <dgm:pt modelId="{639AF1DE-E2B9-401A-9AD8-CBDCB3D493DF}" type="pres">
      <dgm:prSet presAssocID="{92141E86-844A-492C-B47D-C030CA545802}" presName="sibTrans" presStyleLbl="bgSibTrans2D1" presStyleIdx="1" presStyleCnt="8"/>
      <dgm:spPr/>
    </dgm:pt>
    <dgm:pt modelId="{4873C2D1-CFBE-4909-8897-64D8DC8F3209}" type="pres">
      <dgm:prSet presAssocID="{883321A7-6733-4091-8F89-9A1673635C7E}" presName="compNode" presStyleCnt="0"/>
      <dgm:spPr/>
    </dgm:pt>
    <dgm:pt modelId="{1B778077-ECA6-4389-86B1-F49946FF1715}" type="pres">
      <dgm:prSet presAssocID="{883321A7-6733-4091-8F89-9A1673635C7E}" presName="dummyConnPt" presStyleCnt="0"/>
      <dgm:spPr/>
    </dgm:pt>
    <dgm:pt modelId="{8DBB8C89-48DF-46BC-AD28-4CCB49D9A5F7}" type="pres">
      <dgm:prSet presAssocID="{883321A7-6733-4091-8F89-9A1673635C7E}" presName="node" presStyleLbl="node1" presStyleIdx="2" presStyleCnt="9">
        <dgm:presLayoutVars>
          <dgm:bulletEnabled val="1"/>
        </dgm:presLayoutVars>
      </dgm:prSet>
      <dgm:spPr/>
    </dgm:pt>
    <dgm:pt modelId="{AC1034B7-85EA-4CA6-A3DB-FF728BEF42EA}" type="pres">
      <dgm:prSet presAssocID="{BF171DA0-9F84-4183-92D9-23E08868CDA4}" presName="sibTrans" presStyleLbl="bgSibTrans2D1" presStyleIdx="2" presStyleCnt="8"/>
      <dgm:spPr/>
    </dgm:pt>
    <dgm:pt modelId="{BE579359-7F30-483A-82BB-1109CD808536}" type="pres">
      <dgm:prSet presAssocID="{767BDD54-7484-4BF7-A250-883D9ADA42AB}" presName="compNode" presStyleCnt="0"/>
      <dgm:spPr/>
    </dgm:pt>
    <dgm:pt modelId="{9BC1C5B9-1825-479E-ADC4-727A697D2ADA}" type="pres">
      <dgm:prSet presAssocID="{767BDD54-7484-4BF7-A250-883D9ADA42AB}" presName="dummyConnPt" presStyleCnt="0"/>
      <dgm:spPr/>
    </dgm:pt>
    <dgm:pt modelId="{C4CF091F-B5F8-4E5B-8535-597BDB61EF40}" type="pres">
      <dgm:prSet presAssocID="{767BDD54-7484-4BF7-A250-883D9ADA42AB}" presName="node" presStyleLbl="node1" presStyleIdx="3" presStyleCnt="9">
        <dgm:presLayoutVars>
          <dgm:bulletEnabled val="1"/>
        </dgm:presLayoutVars>
      </dgm:prSet>
      <dgm:spPr/>
    </dgm:pt>
    <dgm:pt modelId="{F77DD4C6-42F8-4957-8BDC-3703E0A0B2F0}" type="pres">
      <dgm:prSet presAssocID="{2CAD0B32-2B12-4805-9ED1-4489C3B2E3BD}" presName="sibTrans" presStyleLbl="bgSibTrans2D1" presStyleIdx="3" presStyleCnt="8"/>
      <dgm:spPr/>
    </dgm:pt>
    <dgm:pt modelId="{FA247F64-89E5-43C4-9170-70CA1CFF0527}" type="pres">
      <dgm:prSet presAssocID="{7D8F67D2-584E-4F71-8119-52FD65714F6F}" presName="compNode" presStyleCnt="0"/>
      <dgm:spPr/>
    </dgm:pt>
    <dgm:pt modelId="{7F686877-1DA0-401F-A5F8-6DC9B6F1D4B2}" type="pres">
      <dgm:prSet presAssocID="{7D8F67D2-584E-4F71-8119-52FD65714F6F}" presName="dummyConnPt" presStyleCnt="0"/>
      <dgm:spPr/>
    </dgm:pt>
    <dgm:pt modelId="{D808D25A-B5C4-489B-B044-6F15102D048F}" type="pres">
      <dgm:prSet presAssocID="{7D8F67D2-584E-4F71-8119-52FD65714F6F}" presName="node" presStyleLbl="node1" presStyleIdx="4" presStyleCnt="9">
        <dgm:presLayoutVars>
          <dgm:bulletEnabled val="1"/>
        </dgm:presLayoutVars>
      </dgm:prSet>
      <dgm:spPr/>
    </dgm:pt>
    <dgm:pt modelId="{AC83E301-6BA0-4999-B3D5-AD09BE0D7F8C}" type="pres">
      <dgm:prSet presAssocID="{171C3437-2D97-490C-9ECA-79CBA40C6B91}" presName="sibTrans" presStyleLbl="bgSibTrans2D1" presStyleIdx="4" presStyleCnt="8"/>
      <dgm:spPr/>
    </dgm:pt>
    <dgm:pt modelId="{BC2AF6A9-4B28-4D1A-BBE2-338D79E90E1C}" type="pres">
      <dgm:prSet presAssocID="{46243035-F72B-44DA-802A-DF1408E78CAF}" presName="compNode" presStyleCnt="0"/>
      <dgm:spPr/>
    </dgm:pt>
    <dgm:pt modelId="{D0F76858-BF96-47C8-B3E5-2B37032C8621}" type="pres">
      <dgm:prSet presAssocID="{46243035-F72B-44DA-802A-DF1408E78CAF}" presName="dummyConnPt" presStyleCnt="0"/>
      <dgm:spPr/>
    </dgm:pt>
    <dgm:pt modelId="{2AE99673-3F10-4D76-BB57-D33127273690}" type="pres">
      <dgm:prSet presAssocID="{46243035-F72B-44DA-802A-DF1408E78CAF}" presName="node" presStyleLbl="node1" presStyleIdx="5" presStyleCnt="9">
        <dgm:presLayoutVars>
          <dgm:bulletEnabled val="1"/>
        </dgm:presLayoutVars>
      </dgm:prSet>
      <dgm:spPr/>
    </dgm:pt>
    <dgm:pt modelId="{824048A7-1807-4DA1-A76A-DF8696C0F3D8}" type="pres">
      <dgm:prSet presAssocID="{4D8EE1A5-EDEF-42E4-A820-0F8C475FE25F}" presName="sibTrans" presStyleLbl="bgSibTrans2D1" presStyleIdx="5" presStyleCnt="8"/>
      <dgm:spPr/>
    </dgm:pt>
    <dgm:pt modelId="{76B8419E-8503-428C-9B25-0C7C5E588190}" type="pres">
      <dgm:prSet presAssocID="{1C8487CC-3E32-4705-BB29-5B9BE2FA7A97}" presName="compNode" presStyleCnt="0"/>
      <dgm:spPr/>
    </dgm:pt>
    <dgm:pt modelId="{B27C36D1-6090-49B1-9E84-2DB3E0DD4933}" type="pres">
      <dgm:prSet presAssocID="{1C8487CC-3E32-4705-BB29-5B9BE2FA7A97}" presName="dummyConnPt" presStyleCnt="0"/>
      <dgm:spPr/>
    </dgm:pt>
    <dgm:pt modelId="{85B440BD-DFD4-4FCA-B292-C7EB06F7EF55}" type="pres">
      <dgm:prSet presAssocID="{1C8487CC-3E32-4705-BB29-5B9BE2FA7A97}" presName="node" presStyleLbl="node1" presStyleIdx="6" presStyleCnt="9">
        <dgm:presLayoutVars>
          <dgm:bulletEnabled val="1"/>
        </dgm:presLayoutVars>
      </dgm:prSet>
      <dgm:spPr/>
    </dgm:pt>
    <dgm:pt modelId="{DE76FF07-7003-4670-AA58-ED5DF25026B5}" type="pres">
      <dgm:prSet presAssocID="{5E2C870C-CD8B-4223-B0F1-7C47B4AB77BF}" presName="sibTrans" presStyleLbl="bgSibTrans2D1" presStyleIdx="6" presStyleCnt="8"/>
      <dgm:spPr/>
    </dgm:pt>
    <dgm:pt modelId="{641814B2-4562-4F68-9830-7E8443DF86EC}" type="pres">
      <dgm:prSet presAssocID="{72E035AD-324E-431C-893A-5FE65F548789}" presName="compNode" presStyleCnt="0"/>
      <dgm:spPr/>
    </dgm:pt>
    <dgm:pt modelId="{8ACE3B00-CFB4-4712-AA71-E605B4F8268F}" type="pres">
      <dgm:prSet presAssocID="{72E035AD-324E-431C-893A-5FE65F548789}" presName="dummyConnPt" presStyleCnt="0"/>
      <dgm:spPr/>
    </dgm:pt>
    <dgm:pt modelId="{8D470981-AFDE-4B98-9865-DD47F744FD0F}" type="pres">
      <dgm:prSet presAssocID="{72E035AD-324E-431C-893A-5FE65F548789}" presName="node" presStyleLbl="node1" presStyleIdx="7" presStyleCnt="9">
        <dgm:presLayoutVars>
          <dgm:bulletEnabled val="1"/>
        </dgm:presLayoutVars>
      </dgm:prSet>
      <dgm:spPr/>
    </dgm:pt>
    <dgm:pt modelId="{52814ADA-82C9-43F7-8604-26E9B93326FE}" type="pres">
      <dgm:prSet presAssocID="{FD6DB8F2-7012-4F9A-AFFC-97C0E5E6FBE8}" presName="sibTrans" presStyleLbl="bgSibTrans2D1" presStyleIdx="7" presStyleCnt="8"/>
      <dgm:spPr/>
    </dgm:pt>
    <dgm:pt modelId="{7DF4ECC6-DE7A-44A4-A64F-3C56CCFA3E55}" type="pres">
      <dgm:prSet presAssocID="{7093C210-A80E-40C5-A95B-8B5D696C959B}" presName="compNode" presStyleCnt="0"/>
      <dgm:spPr/>
    </dgm:pt>
    <dgm:pt modelId="{5AFB8EFB-9A8C-4D01-B67F-4261BAE48188}" type="pres">
      <dgm:prSet presAssocID="{7093C210-A80E-40C5-A95B-8B5D696C959B}" presName="dummyConnPt" presStyleCnt="0"/>
      <dgm:spPr/>
    </dgm:pt>
    <dgm:pt modelId="{0214C70E-7717-4B5D-B5F3-037F0C0E5C49}" type="pres">
      <dgm:prSet presAssocID="{7093C210-A80E-40C5-A95B-8B5D696C959B}" presName="node" presStyleLbl="node1" presStyleIdx="8" presStyleCnt="9">
        <dgm:presLayoutVars>
          <dgm:bulletEnabled val="1"/>
        </dgm:presLayoutVars>
      </dgm:prSet>
      <dgm:spPr/>
    </dgm:pt>
  </dgm:ptLst>
  <dgm:cxnLst>
    <dgm:cxn modelId="{58202600-D7FB-4137-A40B-01D952C26C67}" srcId="{4ED2766C-A082-44DD-AAA3-D9616D0F852F}" destId="{883321A7-6733-4091-8F89-9A1673635C7E}" srcOrd="2" destOrd="0" parTransId="{7284789C-B482-42CA-8CBB-0F0C3B332C78}" sibTransId="{BF171DA0-9F84-4183-92D9-23E08868CDA4}"/>
    <dgm:cxn modelId="{4C9E2C07-E1E0-4ED0-BB7E-FB1420EF7695}" type="presOf" srcId="{2CAD0B32-2B12-4805-9ED1-4489C3B2E3BD}" destId="{F77DD4C6-42F8-4957-8BDC-3703E0A0B2F0}" srcOrd="0" destOrd="0" presId="urn:microsoft.com/office/officeart/2005/8/layout/bProcess4"/>
    <dgm:cxn modelId="{82ECA109-44C5-45A4-84D4-A7F1EADAE130}" srcId="{4ED2766C-A082-44DD-AAA3-D9616D0F852F}" destId="{46243035-F72B-44DA-802A-DF1408E78CAF}" srcOrd="5" destOrd="0" parTransId="{44E9311C-B5D2-4AD5-BD81-FA8CC49F4BE6}" sibTransId="{4D8EE1A5-EDEF-42E4-A820-0F8C475FE25F}"/>
    <dgm:cxn modelId="{4AC16010-4405-415A-9432-9A8115C9A0A4}" type="presOf" srcId="{1C8487CC-3E32-4705-BB29-5B9BE2FA7A97}" destId="{85B440BD-DFD4-4FCA-B292-C7EB06F7EF55}" srcOrd="0" destOrd="0" presId="urn:microsoft.com/office/officeart/2005/8/layout/bProcess4"/>
    <dgm:cxn modelId="{81B9B61D-AD88-4C0E-9CB5-26FF24D73706}" type="presOf" srcId="{37CACA0F-AD8D-4F37-B580-F4886934B0E3}" destId="{BF9B19C7-BF9C-49A3-851C-EB506AE83EB0}" srcOrd="0" destOrd="0" presId="urn:microsoft.com/office/officeart/2005/8/layout/bProcess4"/>
    <dgm:cxn modelId="{2621C923-2DDC-459E-B123-9209C5851DBE}" type="presOf" srcId="{171C3437-2D97-490C-9ECA-79CBA40C6B91}" destId="{AC83E301-6BA0-4999-B3D5-AD09BE0D7F8C}" srcOrd="0" destOrd="0" presId="urn:microsoft.com/office/officeart/2005/8/layout/bProcess4"/>
    <dgm:cxn modelId="{87429229-E5C4-4A0D-A6B2-C59021A583CF}" srcId="{4ED2766C-A082-44DD-AAA3-D9616D0F852F}" destId="{7093C210-A80E-40C5-A95B-8B5D696C959B}" srcOrd="8" destOrd="0" parTransId="{11BEBF28-578B-4E56-9431-6192CDDADEC3}" sibTransId="{CC9514FA-AF01-4E14-BEA2-0450726331A5}"/>
    <dgm:cxn modelId="{9870A22E-4D38-4D19-90CB-36C3B3FADF2D}" type="presOf" srcId="{883321A7-6733-4091-8F89-9A1673635C7E}" destId="{8DBB8C89-48DF-46BC-AD28-4CCB49D9A5F7}" srcOrd="0" destOrd="0" presId="urn:microsoft.com/office/officeart/2005/8/layout/bProcess4"/>
    <dgm:cxn modelId="{6785D267-9A0B-44C6-8BC3-3DBC7E59F8B8}" type="presOf" srcId="{93061D98-D984-4204-AB62-A8ED6E6C85D1}" destId="{8722D086-17D7-4AC5-8862-AA5F52DCC7BC}" srcOrd="0" destOrd="0" presId="urn:microsoft.com/office/officeart/2005/8/layout/bProcess4"/>
    <dgm:cxn modelId="{2079F447-B949-4776-98C2-E9EB219BFCC3}" type="presOf" srcId="{767BDD54-7484-4BF7-A250-883D9ADA42AB}" destId="{C4CF091F-B5F8-4E5B-8535-597BDB61EF40}" srcOrd="0" destOrd="0" presId="urn:microsoft.com/office/officeart/2005/8/layout/bProcess4"/>
    <dgm:cxn modelId="{44A4444D-4DE9-4141-8FDD-0A1F5706E3F1}" srcId="{4ED2766C-A082-44DD-AAA3-D9616D0F852F}" destId="{7D8F67D2-584E-4F71-8119-52FD65714F6F}" srcOrd="4" destOrd="0" parTransId="{A8FD198E-3FA8-480D-9034-5231828C688E}" sibTransId="{171C3437-2D97-490C-9ECA-79CBA40C6B91}"/>
    <dgm:cxn modelId="{7579B272-E0C4-498B-AD5F-47346231EFCB}" srcId="{4ED2766C-A082-44DD-AAA3-D9616D0F852F}" destId="{37CACA0F-AD8D-4F37-B580-F4886934B0E3}" srcOrd="0" destOrd="0" parTransId="{DA761B96-F1BB-4B19-BE68-F84E9DDDE045}" sibTransId="{93061D98-D984-4204-AB62-A8ED6E6C85D1}"/>
    <dgm:cxn modelId="{C56C1A91-BE00-41A9-B48F-10BBAB1126DF}" srcId="{4ED2766C-A082-44DD-AAA3-D9616D0F852F}" destId="{5D6E4731-DD19-4C23-87AD-411601B4CAB5}" srcOrd="1" destOrd="0" parTransId="{E6765AC9-9A54-41F0-B33F-1FC3E0BF041A}" sibTransId="{92141E86-844A-492C-B47D-C030CA545802}"/>
    <dgm:cxn modelId="{F6412194-E0C8-43B8-B98E-AFBCB8EF1BCA}" type="presOf" srcId="{FD6DB8F2-7012-4F9A-AFFC-97C0E5E6FBE8}" destId="{52814ADA-82C9-43F7-8604-26E9B93326FE}" srcOrd="0" destOrd="0" presId="urn:microsoft.com/office/officeart/2005/8/layout/bProcess4"/>
    <dgm:cxn modelId="{1F5DFD95-1A8E-4816-B165-A01FB468706F}" type="presOf" srcId="{92141E86-844A-492C-B47D-C030CA545802}" destId="{639AF1DE-E2B9-401A-9AD8-CBDCB3D493DF}" srcOrd="0" destOrd="0" presId="urn:microsoft.com/office/officeart/2005/8/layout/bProcess4"/>
    <dgm:cxn modelId="{F39CBCAC-E700-4F50-9889-7067E8E1BCAF}" srcId="{4ED2766C-A082-44DD-AAA3-D9616D0F852F}" destId="{72E035AD-324E-431C-893A-5FE65F548789}" srcOrd="7" destOrd="0" parTransId="{F062FBA9-CD62-4C41-9D64-2ABA4C7E81E6}" sibTransId="{FD6DB8F2-7012-4F9A-AFFC-97C0E5E6FBE8}"/>
    <dgm:cxn modelId="{1B26D6BC-7188-44D2-A7F3-910D8EC49A5D}" type="presOf" srcId="{5D6E4731-DD19-4C23-87AD-411601B4CAB5}" destId="{CD43FEDB-0A47-46F6-B0BA-61D3042F5620}" srcOrd="0" destOrd="0" presId="urn:microsoft.com/office/officeart/2005/8/layout/bProcess4"/>
    <dgm:cxn modelId="{853C58C0-143F-4B73-A27B-856C4C3DA8C0}" type="presOf" srcId="{4ED2766C-A082-44DD-AAA3-D9616D0F852F}" destId="{1D672A42-8BCC-420B-B4E3-D0216C2C6A1C}" srcOrd="0" destOrd="0" presId="urn:microsoft.com/office/officeart/2005/8/layout/bProcess4"/>
    <dgm:cxn modelId="{653B02C7-1CE6-4610-B592-CB627CC5F02F}" type="presOf" srcId="{BF171DA0-9F84-4183-92D9-23E08868CDA4}" destId="{AC1034B7-85EA-4CA6-A3DB-FF728BEF42EA}" srcOrd="0" destOrd="0" presId="urn:microsoft.com/office/officeart/2005/8/layout/bProcess4"/>
    <dgm:cxn modelId="{BF4839D7-0C05-4561-B4E0-7F36738F64BF}" type="presOf" srcId="{46243035-F72B-44DA-802A-DF1408E78CAF}" destId="{2AE99673-3F10-4D76-BB57-D33127273690}" srcOrd="0" destOrd="0" presId="urn:microsoft.com/office/officeart/2005/8/layout/bProcess4"/>
    <dgm:cxn modelId="{0FA363DB-03FC-4F1D-9C4C-ADA223C5A707}" type="presOf" srcId="{7093C210-A80E-40C5-A95B-8B5D696C959B}" destId="{0214C70E-7717-4B5D-B5F3-037F0C0E5C49}" srcOrd="0" destOrd="0" presId="urn:microsoft.com/office/officeart/2005/8/layout/bProcess4"/>
    <dgm:cxn modelId="{28D017DD-68EB-43DE-9385-96E57B0AA38E}" type="presOf" srcId="{5E2C870C-CD8B-4223-B0F1-7C47B4AB77BF}" destId="{DE76FF07-7003-4670-AA58-ED5DF25026B5}" srcOrd="0" destOrd="0" presId="urn:microsoft.com/office/officeart/2005/8/layout/bProcess4"/>
    <dgm:cxn modelId="{498157E1-AD81-4855-8724-86FD361E837D}" srcId="{4ED2766C-A082-44DD-AAA3-D9616D0F852F}" destId="{767BDD54-7484-4BF7-A250-883D9ADA42AB}" srcOrd="3" destOrd="0" parTransId="{152DA76E-1411-4B59-8560-EC826664130B}" sibTransId="{2CAD0B32-2B12-4805-9ED1-4489C3B2E3BD}"/>
    <dgm:cxn modelId="{4557DAE3-CF80-42F8-B955-28E297D644F1}" type="presOf" srcId="{4D8EE1A5-EDEF-42E4-A820-0F8C475FE25F}" destId="{824048A7-1807-4DA1-A76A-DF8696C0F3D8}" srcOrd="0" destOrd="0" presId="urn:microsoft.com/office/officeart/2005/8/layout/bProcess4"/>
    <dgm:cxn modelId="{3A6C6DE4-D837-4D41-A155-9BC8BEBA36A9}" type="presOf" srcId="{7D8F67D2-584E-4F71-8119-52FD65714F6F}" destId="{D808D25A-B5C4-489B-B044-6F15102D048F}" srcOrd="0" destOrd="0" presId="urn:microsoft.com/office/officeart/2005/8/layout/bProcess4"/>
    <dgm:cxn modelId="{86D9A5E4-4A15-4BD0-A8E5-4CB6F464615E}" type="presOf" srcId="{72E035AD-324E-431C-893A-5FE65F548789}" destId="{8D470981-AFDE-4B98-9865-DD47F744FD0F}" srcOrd="0" destOrd="0" presId="urn:microsoft.com/office/officeart/2005/8/layout/bProcess4"/>
    <dgm:cxn modelId="{6CE08AFF-A60C-4ED5-AF9B-75ED20F8B2EF}" srcId="{4ED2766C-A082-44DD-AAA3-D9616D0F852F}" destId="{1C8487CC-3E32-4705-BB29-5B9BE2FA7A97}" srcOrd="6" destOrd="0" parTransId="{1CE9A74A-A125-4704-8351-BAC5556CEB93}" sibTransId="{5E2C870C-CD8B-4223-B0F1-7C47B4AB77BF}"/>
    <dgm:cxn modelId="{25E2AF0D-C3C8-41FA-A94F-AE12C535F8C1}" type="presParOf" srcId="{1D672A42-8BCC-420B-B4E3-D0216C2C6A1C}" destId="{A0C5699E-9CC8-4818-AA30-53748B86562D}" srcOrd="0" destOrd="0" presId="urn:microsoft.com/office/officeart/2005/8/layout/bProcess4"/>
    <dgm:cxn modelId="{E50B8BB1-096B-47F4-8CA4-2617FD6F8130}" type="presParOf" srcId="{A0C5699E-9CC8-4818-AA30-53748B86562D}" destId="{8FB4AF9D-E432-4D6B-A099-B413F15953A4}" srcOrd="0" destOrd="0" presId="urn:microsoft.com/office/officeart/2005/8/layout/bProcess4"/>
    <dgm:cxn modelId="{A00FA967-902C-4EC8-A4F1-4336E897038C}" type="presParOf" srcId="{A0C5699E-9CC8-4818-AA30-53748B86562D}" destId="{BF9B19C7-BF9C-49A3-851C-EB506AE83EB0}" srcOrd="1" destOrd="0" presId="urn:microsoft.com/office/officeart/2005/8/layout/bProcess4"/>
    <dgm:cxn modelId="{A63BE9F2-DBA8-4244-8625-A4C15890B043}" type="presParOf" srcId="{1D672A42-8BCC-420B-B4E3-D0216C2C6A1C}" destId="{8722D086-17D7-4AC5-8862-AA5F52DCC7BC}" srcOrd="1" destOrd="0" presId="urn:microsoft.com/office/officeart/2005/8/layout/bProcess4"/>
    <dgm:cxn modelId="{FD7CCBC5-5A39-4436-AB37-9F7361AA65DE}" type="presParOf" srcId="{1D672A42-8BCC-420B-B4E3-D0216C2C6A1C}" destId="{78A1685A-C1C8-4353-AF35-FC7BE215905D}" srcOrd="2" destOrd="0" presId="urn:microsoft.com/office/officeart/2005/8/layout/bProcess4"/>
    <dgm:cxn modelId="{7C18E80A-064F-4AFA-B700-E16494E2FF51}" type="presParOf" srcId="{78A1685A-C1C8-4353-AF35-FC7BE215905D}" destId="{B6956428-00A7-4638-B205-4814B3CB1FD8}" srcOrd="0" destOrd="0" presId="urn:microsoft.com/office/officeart/2005/8/layout/bProcess4"/>
    <dgm:cxn modelId="{7B0EAC2F-BC71-410A-BDEA-BA7C49416FEE}" type="presParOf" srcId="{78A1685A-C1C8-4353-AF35-FC7BE215905D}" destId="{CD43FEDB-0A47-46F6-B0BA-61D3042F5620}" srcOrd="1" destOrd="0" presId="urn:microsoft.com/office/officeart/2005/8/layout/bProcess4"/>
    <dgm:cxn modelId="{D57F5673-B0F2-497E-A8A5-33EA5E2859E0}" type="presParOf" srcId="{1D672A42-8BCC-420B-B4E3-D0216C2C6A1C}" destId="{639AF1DE-E2B9-401A-9AD8-CBDCB3D493DF}" srcOrd="3" destOrd="0" presId="urn:microsoft.com/office/officeart/2005/8/layout/bProcess4"/>
    <dgm:cxn modelId="{AD10C739-E451-4345-B058-B7539416C365}" type="presParOf" srcId="{1D672A42-8BCC-420B-B4E3-D0216C2C6A1C}" destId="{4873C2D1-CFBE-4909-8897-64D8DC8F3209}" srcOrd="4" destOrd="0" presId="urn:microsoft.com/office/officeart/2005/8/layout/bProcess4"/>
    <dgm:cxn modelId="{1D1EEAEE-0F65-41F0-8658-8ABDB7B362D8}" type="presParOf" srcId="{4873C2D1-CFBE-4909-8897-64D8DC8F3209}" destId="{1B778077-ECA6-4389-86B1-F49946FF1715}" srcOrd="0" destOrd="0" presId="urn:microsoft.com/office/officeart/2005/8/layout/bProcess4"/>
    <dgm:cxn modelId="{CE9201BA-7C01-4266-AB76-DC159E5454AC}" type="presParOf" srcId="{4873C2D1-CFBE-4909-8897-64D8DC8F3209}" destId="{8DBB8C89-48DF-46BC-AD28-4CCB49D9A5F7}" srcOrd="1" destOrd="0" presId="urn:microsoft.com/office/officeart/2005/8/layout/bProcess4"/>
    <dgm:cxn modelId="{AC09AF86-225A-4DA3-85C3-D9196A028205}" type="presParOf" srcId="{1D672A42-8BCC-420B-B4E3-D0216C2C6A1C}" destId="{AC1034B7-85EA-4CA6-A3DB-FF728BEF42EA}" srcOrd="5" destOrd="0" presId="urn:microsoft.com/office/officeart/2005/8/layout/bProcess4"/>
    <dgm:cxn modelId="{C25E84DD-4EBF-4D74-9100-77BD6002BDAD}" type="presParOf" srcId="{1D672A42-8BCC-420B-B4E3-D0216C2C6A1C}" destId="{BE579359-7F30-483A-82BB-1109CD808536}" srcOrd="6" destOrd="0" presId="urn:microsoft.com/office/officeart/2005/8/layout/bProcess4"/>
    <dgm:cxn modelId="{4E5C9C05-83F2-424A-8E3D-F3FE3096567A}" type="presParOf" srcId="{BE579359-7F30-483A-82BB-1109CD808536}" destId="{9BC1C5B9-1825-479E-ADC4-727A697D2ADA}" srcOrd="0" destOrd="0" presId="urn:microsoft.com/office/officeart/2005/8/layout/bProcess4"/>
    <dgm:cxn modelId="{928461D0-479F-462E-B219-C3D64FB4EB77}" type="presParOf" srcId="{BE579359-7F30-483A-82BB-1109CD808536}" destId="{C4CF091F-B5F8-4E5B-8535-597BDB61EF40}" srcOrd="1" destOrd="0" presId="urn:microsoft.com/office/officeart/2005/8/layout/bProcess4"/>
    <dgm:cxn modelId="{BCAB8C49-4EE7-4E19-8E6E-05C60FA83C80}" type="presParOf" srcId="{1D672A42-8BCC-420B-B4E3-D0216C2C6A1C}" destId="{F77DD4C6-42F8-4957-8BDC-3703E0A0B2F0}" srcOrd="7" destOrd="0" presId="urn:microsoft.com/office/officeart/2005/8/layout/bProcess4"/>
    <dgm:cxn modelId="{5DC6B050-5664-472A-ABE8-8CDD6E7597D7}" type="presParOf" srcId="{1D672A42-8BCC-420B-B4E3-D0216C2C6A1C}" destId="{FA247F64-89E5-43C4-9170-70CA1CFF0527}" srcOrd="8" destOrd="0" presId="urn:microsoft.com/office/officeart/2005/8/layout/bProcess4"/>
    <dgm:cxn modelId="{670E56F3-78BA-4810-8243-9BB76013DDF2}" type="presParOf" srcId="{FA247F64-89E5-43C4-9170-70CA1CFF0527}" destId="{7F686877-1DA0-401F-A5F8-6DC9B6F1D4B2}" srcOrd="0" destOrd="0" presId="urn:microsoft.com/office/officeart/2005/8/layout/bProcess4"/>
    <dgm:cxn modelId="{FFAAD84B-80C1-4CA7-AEF9-BE7B5C2068C2}" type="presParOf" srcId="{FA247F64-89E5-43C4-9170-70CA1CFF0527}" destId="{D808D25A-B5C4-489B-B044-6F15102D048F}" srcOrd="1" destOrd="0" presId="urn:microsoft.com/office/officeart/2005/8/layout/bProcess4"/>
    <dgm:cxn modelId="{79F220C6-096C-4E05-958B-CF17B7099316}" type="presParOf" srcId="{1D672A42-8BCC-420B-B4E3-D0216C2C6A1C}" destId="{AC83E301-6BA0-4999-B3D5-AD09BE0D7F8C}" srcOrd="9" destOrd="0" presId="urn:microsoft.com/office/officeart/2005/8/layout/bProcess4"/>
    <dgm:cxn modelId="{1981F9B7-9806-4478-BFBE-418B5D8E0990}" type="presParOf" srcId="{1D672A42-8BCC-420B-B4E3-D0216C2C6A1C}" destId="{BC2AF6A9-4B28-4D1A-BBE2-338D79E90E1C}" srcOrd="10" destOrd="0" presId="urn:microsoft.com/office/officeart/2005/8/layout/bProcess4"/>
    <dgm:cxn modelId="{3A83549E-9A3B-41B8-A94D-B1B101B26D32}" type="presParOf" srcId="{BC2AF6A9-4B28-4D1A-BBE2-338D79E90E1C}" destId="{D0F76858-BF96-47C8-B3E5-2B37032C8621}" srcOrd="0" destOrd="0" presId="urn:microsoft.com/office/officeart/2005/8/layout/bProcess4"/>
    <dgm:cxn modelId="{8612CAAC-B41A-401B-8D36-A662B46F499B}" type="presParOf" srcId="{BC2AF6A9-4B28-4D1A-BBE2-338D79E90E1C}" destId="{2AE99673-3F10-4D76-BB57-D33127273690}" srcOrd="1" destOrd="0" presId="urn:microsoft.com/office/officeart/2005/8/layout/bProcess4"/>
    <dgm:cxn modelId="{0511CB32-277C-4CBF-AEEC-9BD20EE05FDC}" type="presParOf" srcId="{1D672A42-8BCC-420B-B4E3-D0216C2C6A1C}" destId="{824048A7-1807-4DA1-A76A-DF8696C0F3D8}" srcOrd="11" destOrd="0" presId="urn:microsoft.com/office/officeart/2005/8/layout/bProcess4"/>
    <dgm:cxn modelId="{7528D225-0EE8-4EEF-AC62-25B798066F16}" type="presParOf" srcId="{1D672A42-8BCC-420B-B4E3-D0216C2C6A1C}" destId="{76B8419E-8503-428C-9B25-0C7C5E588190}" srcOrd="12" destOrd="0" presId="urn:microsoft.com/office/officeart/2005/8/layout/bProcess4"/>
    <dgm:cxn modelId="{D58493DB-263B-4FF3-8B72-171986F9C16B}" type="presParOf" srcId="{76B8419E-8503-428C-9B25-0C7C5E588190}" destId="{B27C36D1-6090-49B1-9E84-2DB3E0DD4933}" srcOrd="0" destOrd="0" presId="urn:microsoft.com/office/officeart/2005/8/layout/bProcess4"/>
    <dgm:cxn modelId="{6A7975FA-3147-4B6B-A4E9-C3628C85893E}" type="presParOf" srcId="{76B8419E-8503-428C-9B25-0C7C5E588190}" destId="{85B440BD-DFD4-4FCA-B292-C7EB06F7EF55}" srcOrd="1" destOrd="0" presId="urn:microsoft.com/office/officeart/2005/8/layout/bProcess4"/>
    <dgm:cxn modelId="{FD828664-C4FB-41A3-880F-9DF0013268A0}" type="presParOf" srcId="{1D672A42-8BCC-420B-B4E3-D0216C2C6A1C}" destId="{DE76FF07-7003-4670-AA58-ED5DF25026B5}" srcOrd="13" destOrd="0" presId="urn:microsoft.com/office/officeart/2005/8/layout/bProcess4"/>
    <dgm:cxn modelId="{7980A86C-9A28-45CA-A653-9DF68CAD3387}" type="presParOf" srcId="{1D672A42-8BCC-420B-B4E3-D0216C2C6A1C}" destId="{641814B2-4562-4F68-9830-7E8443DF86EC}" srcOrd="14" destOrd="0" presId="urn:microsoft.com/office/officeart/2005/8/layout/bProcess4"/>
    <dgm:cxn modelId="{212D1DA8-D4F5-437F-AA1B-2C5EDD4A0E54}" type="presParOf" srcId="{641814B2-4562-4F68-9830-7E8443DF86EC}" destId="{8ACE3B00-CFB4-4712-AA71-E605B4F8268F}" srcOrd="0" destOrd="0" presId="urn:microsoft.com/office/officeart/2005/8/layout/bProcess4"/>
    <dgm:cxn modelId="{6A014EE2-57FC-4DBA-A75E-834773F43CAA}" type="presParOf" srcId="{641814B2-4562-4F68-9830-7E8443DF86EC}" destId="{8D470981-AFDE-4B98-9865-DD47F744FD0F}" srcOrd="1" destOrd="0" presId="urn:microsoft.com/office/officeart/2005/8/layout/bProcess4"/>
    <dgm:cxn modelId="{004F9A12-AB5C-4DC8-BE73-C7E520C381DB}" type="presParOf" srcId="{1D672A42-8BCC-420B-B4E3-D0216C2C6A1C}" destId="{52814ADA-82C9-43F7-8604-26E9B93326FE}" srcOrd="15" destOrd="0" presId="urn:microsoft.com/office/officeart/2005/8/layout/bProcess4"/>
    <dgm:cxn modelId="{A640A5EB-0788-4002-B8C2-368497DDAA16}" type="presParOf" srcId="{1D672A42-8BCC-420B-B4E3-D0216C2C6A1C}" destId="{7DF4ECC6-DE7A-44A4-A64F-3C56CCFA3E55}" srcOrd="16" destOrd="0" presId="urn:microsoft.com/office/officeart/2005/8/layout/bProcess4"/>
    <dgm:cxn modelId="{8B007BA5-5114-4590-A7A3-8F1FC5310D72}" type="presParOf" srcId="{7DF4ECC6-DE7A-44A4-A64F-3C56CCFA3E55}" destId="{5AFB8EFB-9A8C-4D01-B67F-4261BAE48188}" srcOrd="0" destOrd="0" presId="urn:microsoft.com/office/officeart/2005/8/layout/bProcess4"/>
    <dgm:cxn modelId="{2CBE32BB-E2E9-45A4-948F-467D29253D8D}" type="presParOf" srcId="{7DF4ECC6-DE7A-44A4-A64F-3C56CCFA3E55}" destId="{0214C70E-7717-4B5D-B5F3-037F0C0E5C49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2D086-17D7-4AC5-8862-AA5F52DCC7BC}">
      <dsp:nvSpPr>
        <dsp:cNvPr id="0" name=""/>
        <dsp:cNvSpPr/>
      </dsp:nvSpPr>
      <dsp:spPr>
        <a:xfrm rot="5400000">
          <a:off x="478610" y="953905"/>
          <a:ext cx="1489347" cy="17968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9B19C7-BF9C-49A3-851C-EB506AE83EB0}">
      <dsp:nvSpPr>
        <dsp:cNvPr id="0" name=""/>
        <dsp:cNvSpPr/>
      </dsp:nvSpPr>
      <dsp:spPr>
        <a:xfrm>
          <a:off x="819966" y="1548"/>
          <a:ext cx="1996507" cy="1197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User </a:t>
          </a:r>
        </a:p>
      </dsp:txBody>
      <dsp:txXfrm>
        <a:off x="855051" y="36633"/>
        <a:ext cx="1926337" cy="1127734"/>
      </dsp:txXfrm>
    </dsp:sp>
    <dsp:sp modelId="{639AF1DE-E2B9-401A-9AD8-CBDCB3D493DF}">
      <dsp:nvSpPr>
        <dsp:cNvPr id="0" name=""/>
        <dsp:cNvSpPr/>
      </dsp:nvSpPr>
      <dsp:spPr>
        <a:xfrm rot="5400000">
          <a:off x="478610" y="2451286"/>
          <a:ext cx="1489347" cy="17968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D43FEDB-0A47-46F6-B0BA-61D3042F5620}">
      <dsp:nvSpPr>
        <dsp:cNvPr id="0" name=""/>
        <dsp:cNvSpPr/>
      </dsp:nvSpPr>
      <dsp:spPr>
        <a:xfrm>
          <a:off x="819966" y="1498928"/>
          <a:ext cx="1996507" cy="1197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Streamlit UI</a:t>
          </a:r>
        </a:p>
      </dsp:txBody>
      <dsp:txXfrm>
        <a:off x="855051" y="1534013"/>
        <a:ext cx="1926337" cy="1127734"/>
      </dsp:txXfrm>
    </dsp:sp>
    <dsp:sp modelId="{AC1034B7-85EA-4CA6-A3DB-FF728BEF42EA}">
      <dsp:nvSpPr>
        <dsp:cNvPr id="0" name=""/>
        <dsp:cNvSpPr/>
      </dsp:nvSpPr>
      <dsp:spPr>
        <a:xfrm>
          <a:off x="1227300" y="3199976"/>
          <a:ext cx="2647321" cy="17968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DBB8C89-48DF-46BC-AD28-4CCB49D9A5F7}">
      <dsp:nvSpPr>
        <dsp:cNvPr id="0" name=""/>
        <dsp:cNvSpPr/>
      </dsp:nvSpPr>
      <dsp:spPr>
        <a:xfrm>
          <a:off x="819966" y="2996309"/>
          <a:ext cx="1996507" cy="1197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Ingestion (Etherscan API)</a:t>
          </a:r>
        </a:p>
      </dsp:txBody>
      <dsp:txXfrm>
        <a:off x="855051" y="3031394"/>
        <a:ext cx="1926337" cy="1127734"/>
      </dsp:txXfrm>
    </dsp:sp>
    <dsp:sp modelId="{F77DD4C6-42F8-4957-8BDC-3703E0A0B2F0}">
      <dsp:nvSpPr>
        <dsp:cNvPr id="0" name=""/>
        <dsp:cNvSpPr/>
      </dsp:nvSpPr>
      <dsp:spPr>
        <a:xfrm rot="16200000">
          <a:off x="3133965" y="2451286"/>
          <a:ext cx="1489347" cy="17968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4CF091F-B5F8-4E5B-8535-597BDB61EF40}">
      <dsp:nvSpPr>
        <dsp:cNvPr id="0" name=""/>
        <dsp:cNvSpPr/>
      </dsp:nvSpPr>
      <dsp:spPr>
        <a:xfrm>
          <a:off x="3475321" y="2996309"/>
          <a:ext cx="1996507" cy="1197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Feature Engineering</a:t>
          </a:r>
        </a:p>
      </dsp:txBody>
      <dsp:txXfrm>
        <a:off x="3510406" y="3031394"/>
        <a:ext cx="1926337" cy="1127734"/>
      </dsp:txXfrm>
    </dsp:sp>
    <dsp:sp modelId="{AC83E301-6BA0-4999-B3D5-AD09BE0D7F8C}">
      <dsp:nvSpPr>
        <dsp:cNvPr id="0" name=""/>
        <dsp:cNvSpPr/>
      </dsp:nvSpPr>
      <dsp:spPr>
        <a:xfrm rot="16200000">
          <a:off x="3133965" y="953905"/>
          <a:ext cx="1489347" cy="17968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808D25A-B5C4-489B-B044-6F15102D048F}">
      <dsp:nvSpPr>
        <dsp:cNvPr id="0" name=""/>
        <dsp:cNvSpPr/>
      </dsp:nvSpPr>
      <dsp:spPr>
        <a:xfrm>
          <a:off x="3475321" y="1498928"/>
          <a:ext cx="1996507" cy="1197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ML Model</a:t>
          </a:r>
        </a:p>
      </dsp:txBody>
      <dsp:txXfrm>
        <a:off x="3510406" y="1534013"/>
        <a:ext cx="1926337" cy="1127734"/>
      </dsp:txXfrm>
    </dsp:sp>
    <dsp:sp modelId="{824048A7-1807-4DA1-A76A-DF8696C0F3D8}">
      <dsp:nvSpPr>
        <dsp:cNvPr id="0" name=""/>
        <dsp:cNvSpPr/>
      </dsp:nvSpPr>
      <dsp:spPr>
        <a:xfrm>
          <a:off x="3882655" y="205215"/>
          <a:ext cx="2647321" cy="17968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AE99673-3F10-4D76-BB57-D33127273690}">
      <dsp:nvSpPr>
        <dsp:cNvPr id="0" name=""/>
        <dsp:cNvSpPr/>
      </dsp:nvSpPr>
      <dsp:spPr>
        <a:xfrm>
          <a:off x="3475321" y="1548"/>
          <a:ext cx="1996507" cy="1197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Risk Score</a:t>
          </a:r>
        </a:p>
      </dsp:txBody>
      <dsp:txXfrm>
        <a:off x="3510406" y="36633"/>
        <a:ext cx="1926337" cy="1127734"/>
      </dsp:txXfrm>
    </dsp:sp>
    <dsp:sp modelId="{DE76FF07-7003-4670-AA58-ED5DF25026B5}">
      <dsp:nvSpPr>
        <dsp:cNvPr id="0" name=""/>
        <dsp:cNvSpPr/>
      </dsp:nvSpPr>
      <dsp:spPr>
        <a:xfrm rot="5400000">
          <a:off x="5789320" y="953905"/>
          <a:ext cx="1489347" cy="17968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5B440BD-DFD4-4FCA-B292-C7EB06F7EF55}">
      <dsp:nvSpPr>
        <dsp:cNvPr id="0" name=""/>
        <dsp:cNvSpPr/>
      </dsp:nvSpPr>
      <dsp:spPr>
        <a:xfrm>
          <a:off x="6130676" y="1548"/>
          <a:ext cx="1996507" cy="1197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Charts + Tables</a:t>
          </a:r>
        </a:p>
      </dsp:txBody>
      <dsp:txXfrm>
        <a:off x="6165761" y="36633"/>
        <a:ext cx="1926337" cy="1127734"/>
      </dsp:txXfrm>
    </dsp:sp>
    <dsp:sp modelId="{52814ADA-82C9-43F7-8604-26E9B93326FE}">
      <dsp:nvSpPr>
        <dsp:cNvPr id="0" name=""/>
        <dsp:cNvSpPr/>
      </dsp:nvSpPr>
      <dsp:spPr>
        <a:xfrm rot="5400000">
          <a:off x="5789320" y="2451286"/>
          <a:ext cx="1489347" cy="17968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D470981-AFDE-4B98-9865-DD47F744FD0F}">
      <dsp:nvSpPr>
        <dsp:cNvPr id="0" name=""/>
        <dsp:cNvSpPr/>
      </dsp:nvSpPr>
      <dsp:spPr>
        <a:xfrm>
          <a:off x="6130676" y="1498928"/>
          <a:ext cx="1996507" cy="1197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CSV Export</a:t>
          </a:r>
        </a:p>
      </dsp:txBody>
      <dsp:txXfrm>
        <a:off x="6165761" y="1534013"/>
        <a:ext cx="1926337" cy="1127734"/>
      </dsp:txXfrm>
    </dsp:sp>
    <dsp:sp modelId="{0214C70E-7717-4B5D-B5F3-037F0C0E5C49}">
      <dsp:nvSpPr>
        <dsp:cNvPr id="0" name=""/>
        <dsp:cNvSpPr/>
      </dsp:nvSpPr>
      <dsp:spPr>
        <a:xfrm>
          <a:off x="6130676" y="2996309"/>
          <a:ext cx="1996507" cy="1197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Power BI</a:t>
          </a:r>
        </a:p>
      </dsp:txBody>
      <dsp:txXfrm>
        <a:off x="6165761" y="3031394"/>
        <a:ext cx="1926337" cy="1127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 everyone, today our team presents </a:t>
            </a:r>
            <a:r>
              <a:rPr lang="en-US" dirty="0" err="1"/>
              <a:t>CryptoGuard</a:t>
            </a:r>
            <a:r>
              <a:rPr lang="en-US" dirty="0"/>
              <a:t> AI, a machine-learning powered Ethereum wallet analysis tool that detects suspicious on-chain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Cryptocurrency adoption has increased, but so has fraud. Many users have no tool to verify if a wallet is safe before interacting with it. Our goal is to solve this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83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provides immediate insights into wallet behavior using ML-powered analytics, accessible through a clean web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000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summarizes the full workflow: user inputs a wallet, we fetch data from </a:t>
            </a:r>
            <a:r>
              <a:rPr lang="en-US" dirty="0" err="1"/>
              <a:t>Etherscan</a:t>
            </a:r>
            <a:r>
              <a:rPr lang="en-US" dirty="0"/>
              <a:t>, generate features, run ML algorithms, and visualize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13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EB34E-4416-1CC5-F80A-EE7E67DC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552F7-B29D-13C6-0C88-6C79A8B0D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80381-B8F8-4587-27C3-3F81EE2D0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</a:t>
            </a:r>
            <a:r>
              <a:rPr lang="en-US" dirty="0" err="1"/>
              <a:t>Etherscan's</a:t>
            </a:r>
            <a:r>
              <a:rPr lang="en-US" dirty="0"/>
              <a:t> V2 API to fetch the most recent 150 transactions for each wallet. This raw data is then cleaned and structured.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FE28C-9DDA-BFAE-9222-2BCE6052B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662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2340-C089-97CC-A661-DEC2E4284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5AC4C-7205-5132-2422-2EF0D3709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1E949-DC1F-0BB1-79A0-825EA4AD1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convert raw blockchain data into meaningful behavioral patterns. These features help the model distinguish normal wallets from suspicious ones.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01166-E00A-B325-E3BE-DB344E177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95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2E02-BC5B-2869-1012-1E884882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9C4A3-AF47-5DA9-B3D5-87CF78C6E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680C4-4953-BAAA-1939-6F60582E3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IsolationForest</a:t>
            </a:r>
            <a:r>
              <a:rPr lang="en-US" dirty="0"/>
              <a:t> is ideal because blockchain data doesn't come with labels. The model isolates unusual wallets by scoring their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FF59A-3FC1-B92B-6ECF-DE2BEAFC8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089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EE13D-9DBE-B6F1-9034-E4D0CB2B3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9DBB8-4AF5-AB06-E601-59EE2163D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4C1EE-8DA5-C492-2AE3-FEC8D0137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front-end is built in </a:t>
            </a:r>
            <a:r>
              <a:rPr lang="en-US" dirty="0" err="1"/>
              <a:t>Streamlit</a:t>
            </a:r>
            <a:r>
              <a:rPr lang="en-US" dirty="0"/>
              <a:t>, making it simple for users to analyze any Ethereum wallet instantly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56142-E343-FC55-F4A3-92F2FC431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67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A035-815D-F288-713C-488AE89C8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6A430-7429-2BAA-F60F-1DBC32486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1FCD3-C241-047D-BAD7-A36D41853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front-end is built in </a:t>
            </a:r>
            <a:r>
              <a:rPr lang="en-US" dirty="0" err="1"/>
              <a:t>Streamlit</a:t>
            </a:r>
            <a:r>
              <a:rPr lang="en-US" dirty="0"/>
              <a:t>, making it simple for users to analyze any Ethereum wallet instantly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088B5-514D-9CF7-237B-D47A5A62C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388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4158-F4F6-2C3F-38E1-F82F480D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CAAD8-0BFB-5972-CA8E-3B02DF041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84FCF-F941-CBBF-50E6-2FBBC82A8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"Power BI provides deeper visualization of wallet behavior clusters and anomalies. This dashboard is useful for compliance, exchanges, or analysts."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8B8B9-0DDE-FB4E-A504-3ED278F79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064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93EB1-6D16-ABAB-FC56-E9E93B90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461BA-E3AE-EB97-31EB-26E4415D6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8D952-6926-CC5E-5F8E-DD2008733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"Using the charts, we can identify which wallets stand out due to high burstiness, extreme volume, or unusual behavioral signatures."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94396-6A0B-7901-BA8F-A85AFB724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084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382E-980E-3FA5-D655-18EB0B41B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AE195-5C39-F8C5-8F0D-5A9BD6D6C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547F8-2C50-C63D-C65E-8F3AB7589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plan to expand </a:t>
            </a:r>
            <a:r>
              <a:rPr lang="en-US" dirty="0" err="1"/>
              <a:t>CryptoGuard</a:t>
            </a:r>
            <a:r>
              <a:rPr lang="en-US" dirty="0"/>
              <a:t> AI into a multi-chain intelligent risk engine with improved ML algorithms.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EA6AF-CC31-94B0-42CE-59824D124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2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75E0-7DEA-C1BC-7281-08035157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82347-FDA4-CF47-272F-C2ADEC6B6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F0104-11D1-C0EE-1295-B102EB8FB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</a:t>
            </a:r>
            <a:r>
              <a:rPr lang="en-US" dirty="0" err="1"/>
              <a:t>CryptoGuard</a:t>
            </a:r>
            <a:r>
              <a:rPr lang="en-US" dirty="0"/>
              <a:t> AI brings machine-learning powered risk analysis to blockchain users, making crypto transactions safer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EC00E-3B5A-5F97-0B97-C57A035A0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85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4" y="1447801"/>
            <a:ext cx="9250747" cy="1260894"/>
          </a:xfrm>
        </p:spPr>
        <p:txBody>
          <a:bodyPr>
            <a:normAutofit fontScale="90000"/>
          </a:bodyPr>
          <a:lstStyle/>
          <a:p>
            <a:r>
              <a:rPr lang="en-US" sz="4000" b="1" dirty="0" err="1"/>
              <a:t>CryptoGuard</a:t>
            </a:r>
            <a:r>
              <a:rPr lang="en-US" sz="4000" b="1" dirty="0"/>
              <a:t> AI – Ethereum Wallet Fraud &amp; Anomaly Detection System</a:t>
            </a:r>
            <a:endParaRPr lang="ru-RU" sz="4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0B275-F24D-1231-B0DF-813774064A64}"/>
              </a:ext>
            </a:extLst>
          </p:cNvPr>
          <p:cNvSpPr txBox="1"/>
          <p:nvPr/>
        </p:nvSpPr>
        <p:spPr>
          <a:xfrm>
            <a:off x="1092324" y="2708695"/>
            <a:ext cx="882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BDAT 1004 – Blockchain Project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CFDE215-C1EB-890B-DDE6-EACBABBE6A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92325" y="3179809"/>
            <a:ext cx="50036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solidFill>
                  <a:schemeClr val="tx1"/>
                </a:solidFill>
                <a:latin typeface="Arial" panose="020B0604020202020204" pitchFamily="34" charset="0"/>
              </a:rPr>
              <a:t>Tirth Rakeshkumar Doshi – 200609650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solidFill>
                  <a:schemeClr val="tx1"/>
                </a:solidFill>
                <a:latin typeface="Arial" panose="020B0604020202020204" pitchFamily="34" charset="0"/>
              </a:rPr>
              <a:t>Chang Liu – 200652377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solidFill>
                  <a:schemeClr val="tx1"/>
                </a:solidFill>
                <a:latin typeface="Arial" panose="020B0604020202020204" pitchFamily="34" charset="0"/>
              </a:rPr>
              <a:t>Darshit Manojkumar </a:t>
            </a:r>
            <a:r>
              <a:rPr lang="en-US" altLang="en-US" sz="1800" cap="none" dirty="0" err="1">
                <a:solidFill>
                  <a:schemeClr val="tx1"/>
                </a:solidFill>
                <a:latin typeface="Arial" panose="020B0604020202020204" pitchFamily="34" charset="0"/>
              </a:rPr>
              <a:t>Limbachiya</a:t>
            </a:r>
            <a:r>
              <a:rPr lang="en-US" altLang="en-US" sz="1800" cap="none" dirty="0">
                <a:solidFill>
                  <a:schemeClr val="tx1"/>
                </a:solidFill>
                <a:latin typeface="Arial" panose="020B0604020202020204" pitchFamily="34" charset="0"/>
              </a:rPr>
              <a:t> – 200611012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cap="none" dirty="0">
                <a:solidFill>
                  <a:schemeClr val="tx1"/>
                </a:solidFill>
                <a:latin typeface="Arial" panose="020B0604020202020204" pitchFamily="34" charset="0"/>
              </a:rPr>
              <a:t>Kusuma Sree </a:t>
            </a:r>
            <a:r>
              <a:rPr lang="en-US" altLang="en-US" sz="1800" cap="none" dirty="0" err="1">
                <a:solidFill>
                  <a:schemeClr val="tx1"/>
                </a:solidFill>
                <a:latin typeface="Arial" panose="020B0604020202020204" pitchFamily="34" charset="0"/>
              </a:rPr>
              <a:t>Addageethala</a:t>
            </a:r>
            <a:r>
              <a:rPr lang="en-US" altLang="en-US" sz="1800" cap="none" dirty="0">
                <a:solidFill>
                  <a:schemeClr val="tx1"/>
                </a:solidFill>
                <a:latin typeface="Arial" panose="020B0604020202020204" pitchFamily="34" charset="0"/>
              </a:rPr>
              <a:t> – 200600636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36FB9E-C569-F8CB-5EB4-0DDA23A762C8}"/>
              </a:ext>
            </a:extLst>
          </p:cNvPr>
          <p:cNvSpPr txBox="1"/>
          <p:nvPr/>
        </p:nvSpPr>
        <p:spPr>
          <a:xfrm>
            <a:off x="1092324" y="4479839"/>
            <a:ext cx="763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Instructor: Prof. </a:t>
            </a:r>
            <a:r>
              <a:rPr lang="en-US" b="1" dirty="0"/>
              <a:t>Robin Huang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EDEA-20F4-3CEE-F1FA-CD3672E2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78598"/>
            <a:ext cx="9274265" cy="1400530"/>
          </a:xfrm>
        </p:spPr>
        <p:txBody>
          <a:bodyPr/>
          <a:lstStyle/>
          <a:p>
            <a:r>
              <a:rPr lang="en-US" dirty="0"/>
              <a:t>The Challenge: Rising Crypto Fraud &amp; Wallet Risks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66D003-0C37-BAAA-0322-A903086BDC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1996310"/>
            <a:ext cx="718978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Crypto scams, phishing, and laundering are increasing every 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often transfer funds to unknown wallets without safety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tools are expensive, complex, or not user-friendly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real-time anomaly detection to prevent losses</a:t>
            </a:r>
          </a:p>
        </p:txBody>
      </p:sp>
    </p:spTree>
    <p:extLst>
      <p:ext uri="{BB962C8B-B14F-4D97-AF65-F5344CB8AC3E}">
        <p14:creationId xmlns:p14="http://schemas.microsoft.com/office/powerpoint/2010/main" val="313961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4ACC-C0AC-62ED-A6CD-C49A6B96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61344"/>
            <a:ext cx="9404723" cy="1400530"/>
          </a:xfrm>
        </p:spPr>
        <p:txBody>
          <a:bodyPr/>
          <a:lstStyle/>
          <a:p>
            <a:r>
              <a:rPr lang="en-US" dirty="0"/>
              <a:t>Our Solution: </a:t>
            </a:r>
            <a:r>
              <a:rPr lang="en-US" dirty="0" err="1"/>
              <a:t>CryptoGuard</a:t>
            </a:r>
            <a:r>
              <a:rPr lang="en-US" dirty="0"/>
              <a:t> AI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D46507-0275-CE3D-0428-8FDADBEA22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1861874"/>
            <a:ext cx="508664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Fetches real-time Ethereum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Engineers behavioral features for each wallet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ML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detect anomalies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risk score (0–100) and risk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Visualizes patterns with dashboards &amp; charts</a:t>
            </a:r>
          </a:p>
        </p:txBody>
      </p:sp>
    </p:spTree>
    <p:extLst>
      <p:ext uri="{BB962C8B-B14F-4D97-AF65-F5344CB8AC3E}">
        <p14:creationId xmlns:p14="http://schemas.microsoft.com/office/powerpoint/2010/main" val="1761750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7034-6846-6EA0-56BA-09D3ED81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9404723" cy="1400530"/>
          </a:xfrm>
        </p:spPr>
        <p:txBody>
          <a:bodyPr/>
          <a:lstStyle/>
          <a:p>
            <a:r>
              <a:rPr lang="en-US" dirty="0"/>
              <a:t>System Architecture Overview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86190B4-3115-F5E9-FCE7-A7E9FD9A61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511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CB6B-849F-ACD7-5A58-B5AF4E8F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2900-6928-6C99-E348-DCA67A465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9404723" cy="1400530"/>
          </a:xfrm>
        </p:spPr>
        <p:txBody>
          <a:bodyPr/>
          <a:lstStyle/>
          <a:p>
            <a:r>
              <a:rPr lang="en-US" dirty="0"/>
              <a:t>Real-Time Blockchain Data Ingestion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56A2F-6DCF-DB5F-4606-757FFF53F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Source: </a:t>
            </a:r>
            <a:r>
              <a:rPr lang="en-US" dirty="0" err="1"/>
              <a:t>Etherscan</a:t>
            </a:r>
            <a:r>
              <a:rPr lang="en-US" dirty="0"/>
              <a:t> API V2 (</a:t>
            </a:r>
            <a:r>
              <a:rPr lang="en-US" dirty="0" err="1"/>
              <a:t>txlist</a:t>
            </a:r>
            <a:r>
              <a:rPr lang="en-US" dirty="0"/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Extract: Hash, timestamp, value, fees, sender/receiver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Standardize into </a:t>
            </a:r>
            <a:r>
              <a:rPr lang="en-US" dirty="0" err="1"/>
              <a:t>DataFrame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Store raw data for analysis</a:t>
            </a:r>
          </a:p>
        </p:txBody>
      </p:sp>
    </p:spTree>
    <p:extLst>
      <p:ext uri="{BB962C8B-B14F-4D97-AF65-F5344CB8AC3E}">
        <p14:creationId xmlns:p14="http://schemas.microsoft.com/office/powerpoint/2010/main" val="200821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B014-2C0E-9CDA-4ABF-3AE0D5CAE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3D55-AC41-4284-D728-20D111B1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9404723" cy="1400530"/>
          </a:xfrm>
        </p:spPr>
        <p:txBody>
          <a:bodyPr/>
          <a:lstStyle/>
          <a:p>
            <a:r>
              <a:rPr lang="en-US" dirty="0"/>
              <a:t>Feature Engineering for Wallet Behavior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C3989-872E-4500-021D-12E2BF9F8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Features Used:</a:t>
            </a:r>
            <a:endParaRPr lang="en-US" dirty="0"/>
          </a:p>
          <a:p>
            <a:pPr lvl="1"/>
            <a:r>
              <a:rPr lang="en-US" dirty="0"/>
              <a:t>Transaction Count</a:t>
            </a:r>
          </a:p>
          <a:p>
            <a:pPr lvl="1"/>
            <a:r>
              <a:rPr lang="en-US" dirty="0"/>
              <a:t>Total Volume (ETH)</a:t>
            </a:r>
          </a:p>
          <a:p>
            <a:pPr lvl="1"/>
            <a:r>
              <a:rPr lang="en-US" dirty="0"/>
              <a:t>Average / Maximum / Minimum Tx Value</a:t>
            </a:r>
          </a:p>
          <a:p>
            <a:pPr lvl="1"/>
            <a:r>
              <a:rPr lang="en-US" dirty="0"/>
              <a:t>Average Gas Fee</a:t>
            </a:r>
          </a:p>
          <a:p>
            <a:pPr lvl="1"/>
            <a:r>
              <a:rPr lang="en-US" dirty="0"/>
              <a:t>Burstiness (Tx per hour pattern)</a:t>
            </a:r>
          </a:p>
          <a:p>
            <a:pPr lvl="1"/>
            <a:r>
              <a:rPr lang="en-US" dirty="0"/>
              <a:t>Average Time Between Transactions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141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A9134-8C4E-BED7-6202-C76E691B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FADE-DA64-0A7A-001D-920FC639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9404723" cy="1400530"/>
          </a:xfrm>
        </p:spPr>
        <p:txBody>
          <a:bodyPr/>
          <a:lstStyle/>
          <a:p>
            <a:r>
              <a:rPr lang="en-US" dirty="0"/>
              <a:t>Machine Learning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C5BE3-C360-706B-BE86-8197A2936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Points:</a:t>
            </a:r>
            <a:endParaRPr lang="en-US" dirty="0"/>
          </a:p>
          <a:p>
            <a:pPr lvl="1"/>
            <a:r>
              <a:rPr lang="en-US" dirty="0"/>
              <a:t>Works with </a:t>
            </a:r>
            <a:r>
              <a:rPr lang="en-US" b="1" dirty="0"/>
              <a:t>unlabeled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Detects rare or unusual patterns</a:t>
            </a:r>
          </a:p>
          <a:p>
            <a:pPr lvl="1"/>
            <a:r>
              <a:rPr lang="en-US" dirty="0"/>
              <a:t>Outputs anomaly score</a:t>
            </a:r>
          </a:p>
          <a:p>
            <a:pPr lvl="1"/>
            <a:r>
              <a:rPr lang="en-US" dirty="0"/>
              <a:t>Converted to risk score (0–100)</a:t>
            </a:r>
          </a:p>
          <a:p>
            <a:pPr lvl="1"/>
            <a:r>
              <a:rPr lang="en-US" dirty="0"/>
              <a:t>Categories: Low / Medium / High</a:t>
            </a:r>
          </a:p>
        </p:txBody>
      </p:sp>
    </p:spTree>
    <p:extLst>
      <p:ext uri="{BB962C8B-B14F-4D97-AF65-F5344CB8AC3E}">
        <p14:creationId xmlns:p14="http://schemas.microsoft.com/office/powerpoint/2010/main" val="412982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6453-0C65-F5EA-BDE3-9764EF3A0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91086-07CD-A161-0FD1-D2B83443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9404723" cy="1400530"/>
          </a:xfrm>
        </p:spPr>
        <p:txBody>
          <a:bodyPr/>
          <a:lstStyle/>
          <a:p>
            <a:r>
              <a:rPr lang="en-US"/>
              <a:t>Streamlit Application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CCAF-691F-3D5F-CD83-D8FA685DE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Key App Features:</a:t>
            </a:r>
            <a:endParaRPr lang="en-US" dirty="0"/>
          </a:p>
          <a:p>
            <a:pPr lvl="1"/>
            <a:r>
              <a:rPr lang="en-US" dirty="0"/>
              <a:t>Real-time scoring</a:t>
            </a:r>
          </a:p>
          <a:p>
            <a:pPr lvl="1"/>
            <a:r>
              <a:rPr lang="en-US" dirty="0"/>
              <a:t>Transaction charts</a:t>
            </a:r>
          </a:p>
          <a:p>
            <a:pPr lvl="1"/>
            <a:r>
              <a:rPr lang="en-US" dirty="0"/>
              <a:t>CSV export</a:t>
            </a:r>
          </a:p>
          <a:p>
            <a:pPr lvl="1"/>
            <a:r>
              <a:rPr lang="en-US" dirty="0"/>
              <a:t>Clean and interactive UI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9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DEA32-55A1-ED20-D642-4B4AC618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28FF-918F-0F2E-3166-172F5843D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/>
              <a:t>Streamlit Application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EB0019-74DE-1DBE-B7FE-B640C77F8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47266" y="2052918"/>
            <a:ext cx="7458633" cy="4195481"/>
          </a:xfrm>
          <a:noFill/>
        </p:spPr>
      </p:pic>
    </p:spTree>
    <p:extLst>
      <p:ext uri="{BB962C8B-B14F-4D97-AF65-F5344CB8AC3E}">
        <p14:creationId xmlns:p14="http://schemas.microsoft.com/office/powerpoint/2010/main" val="3128343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36FD-2722-CCF9-4287-63C1DC78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0693-899A-379F-7F6B-C46947AA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>
            <a:normAutofit/>
          </a:bodyPr>
          <a:lstStyle/>
          <a:p>
            <a:r>
              <a:rPr lang="en-US" dirty="0"/>
              <a:t>Power BI Dashboard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A1DA04-F3B4-D963-F69C-58A8412BF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84616" y="2272426"/>
            <a:ext cx="5195997" cy="2922747"/>
          </a:xfrm>
          <a:noFill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C4C530B-EBC0-D711-D2DA-1C44B2E1FDB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5701" y="3145603"/>
            <a:ext cx="34003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volume per wallet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Burstiness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Scatter plot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tx_count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avg_tx_value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distribution pie chart</a:t>
            </a:r>
          </a:p>
        </p:txBody>
      </p:sp>
    </p:spTree>
    <p:extLst>
      <p:ext uri="{BB962C8B-B14F-4D97-AF65-F5344CB8AC3E}">
        <p14:creationId xmlns:p14="http://schemas.microsoft.com/office/powerpoint/2010/main" val="28944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35D9E-8709-F494-8232-63BFDF14B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A876A-8F2E-F4DD-BBE0-150336B6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9404723" cy="1400530"/>
          </a:xfrm>
        </p:spPr>
        <p:txBody>
          <a:bodyPr/>
          <a:lstStyle/>
          <a:p>
            <a:r>
              <a:rPr lang="en-US" dirty="0"/>
              <a:t>Results &amp; Insights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553637-C194-8CFF-B47E-66D88121F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High-volume wallets behave differently from high-burstiness wallets.</a:t>
            </a:r>
          </a:p>
          <a:p>
            <a:r>
              <a:rPr lang="en-US" dirty="0"/>
              <a:t>Some wallets have unusual fee patterns.</a:t>
            </a:r>
          </a:p>
          <a:p>
            <a:r>
              <a:rPr lang="en-US" dirty="0"/>
              <a:t>Behavioral clustering reveals potential automated or bot wallets.</a:t>
            </a:r>
          </a:p>
          <a:p>
            <a:r>
              <a:rPr lang="en-US" dirty="0"/>
              <a:t>Risk categories help differentiate normal vs suspicious behavior</a:t>
            </a:r>
          </a:p>
        </p:txBody>
      </p:sp>
    </p:spTree>
    <p:extLst>
      <p:ext uri="{BB962C8B-B14F-4D97-AF65-F5344CB8AC3E}">
        <p14:creationId xmlns:p14="http://schemas.microsoft.com/office/powerpoint/2010/main" val="138188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8046-D86F-E2D2-F146-E50D48BC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7F10-63C6-322B-0C0D-00034722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9404723" cy="1400530"/>
          </a:xfrm>
        </p:spPr>
        <p:txBody>
          <a:bodyPr/>
          <a:lstStyle/>
          <a:p>
            <a:r>
              <a:rPr lang="en-US" dirty="0"/>
              <a:t>Limitations &amp; Future Enhancements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203E80-4F8E-B46F-6B39-341D25443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Points:</a:t>
            </a:r>
            <a:endParaRPr lang="en-US" dirty="0"/>
          </a:p>
          <a:p>
            <a:pPr lvl="1"/>
            <a:r>
              <a:rPr lang="en-US" dirty="0" err="1"/>
              <a:t>IsolationForest</a:t>
            </a:r>
            <a:r>
              <a:rPr lang="en-US" dirty="0"/>
              <a:t> accuracy depends on variety of training wallets</a:t>
            </a:r>
          </a:p>
          <a:p>
            <a:pPr lvl="1"/>
            <a:r>
              <a:rPr lang="en-US" dirty="0"/>
              <a:t>Only Ethereum chain supported</a:t>
            </a:r>
          </a:p>
          <a:p>
            <a:pPr lvl="1"/>
            <a:r>
              <a:rPr lang="en-US" dirty="0"/>
              <a:t>Real-time alerts not yet implemented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Future Enhancements:</a:t>
            </a:r>
            <a:endParaRPr lang="en-US" dirty="0"/>
          </a:p>
          <a:p>
            <a:pPr lvl="1"/>
            <a:r>
              <a:rPr lang="en-US" dirty="0"/>
              <a:t>Multi-chain support (BTC, BSC, Polygon)</a:t>
            </a:r>
          </a:p>
          <a:p>
            <a:pPr lvl="1"/>
            <a:r>
              <a:rPr lang="en-US" dirty="0"/>
              <a:t>Live alerting (Telegram/Discord bot)</a:t>
            </a:r>
          </a:p>
          <a:p>
            <a:pPr lvl="1"/>
            <a:r>
              <a:rPr lang="en-US" dirty="0"/>
              <a:t>Cloud deployment (Azure/AWS)</a:t>
            </a:r>
          </a:p>
          <a:p>
            <a:pPr lvl="1"/>
            <a:r>
              <a:rPr lang="en-US" dirty="0"/>
              <a:t>API service for external apps</a:t>
            </a:r>
          </a:p>
          <a:p>
            <a:pPr lvl="1"/>
            <a:r>
              <a:rPr lang="en-US" dirty="0"/>
              <a:t>Advanced ML models (Autoencoders, LSTM)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21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7CE2B-AE08-96B3-E986-70F3A4E9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747F-94CD-3287-5057-A34D28A61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9404723" cy="140053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E99960-D8EA-16D4-168E-0F2DC2372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CryptoGuard</a:t>
            </a:r>
            <a:r>
              <a:rPr lang="en-US" dirty="0"/>
              <a:t> AI detects wallet anomalies using ML</a:t>
            </a:r>
          </a:p>
          <a:p>
            <a:r>
              <a:rPr lang="en-US" dirty="0"/>
              <a:t>Helps prevent risky transfers</a:t>
            </a:r>
          </a:p>
          <a:p>
            <a:r>
              <a:rPr lang="en-US" dirty="0"/>
              <a:t>Provides fast, accessible blockchain intelligence</a:t>
            </a:r>
          </a:p>
          <a:p>
            <a:r>
              <a:rPr lang="en-US" dirty="0"/>
              <a:t>Delivers insights through dashboards &amp; real-time scoring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29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49</TotalTime>
  <Words>737</Words>
  <Application>Microsoft Office PowerPoint</Application>
  <PresentationFormat>Widescreen</PresentationFormat>
  <Paragraphs>122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Courier New</vt:lpstr>
      <vt:lpstr>Wingdings 3</vt:lpstr>
      <vt:lpstr>Ion</vt:lpstr>
      <vt:lpstr>CryptoGuard AI – Ethereum Wallet Fraud &amp; Anomaly Detection System</vt:lpstr>
      <vt:lpstr>The Challenge: Rising Crypto Fraud &amp; Wallet Risks</vt:lpstr>
      <vt:lpstr>Our Solution: CryptoGuard AI</vt:lpstr>
      <vt:lpstr>System Architecture Overview</vt:lpstr>
      <vt:lpstr>Real-Time Blockchain Data Ingestion</vt:lpstr>
      <vt:lpstr>Feature Engineering for Wallet Behavior</vt:lpstr>
      <vt:lpstr>Machine Learning Model</vt:lpstr>
      <vt:lpstr>Streamlit Application</vt:lpstr>
      <vt:lpstr>Streamlit Application</vt:lpstr>
      <vt:lpstr>Power BI Dashboard</vt:lpstr>
      <vt:lpstr>Results &amp; Insights</vt:lpstr>
      <vt:lpstr>Limitations &amp; Future Enhancements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Tirth Doshi</dc:creator>
  <cp:lastModifiedBy>Tirth Doshi</cp:lastModifiedBy>
  <cp:revision>1</cp:revision>
  <dcterms:created xsi:type="dcterms:W3CDTF">2025-12-06T09:19:39Z</dcterms:created>
  <dcterms:modified xsi:type="dcterms:W3CDTF">2025-12-06T10:08:57Z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